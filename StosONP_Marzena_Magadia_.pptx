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5"/>
  </p:normalViewPr>
  <p:slideViewPr>
    <p:cSldViewPr snapToGrid="0" snapToObjects="1">
      <p:cViewPr varScale="1">
        <p:scale>
          <a:sx n="119" d="100"/>
          <a:sy n="119" d="100"/>
        </p:scale>
        <p:origin x="856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46304" cy="6858000"/>
          </a:xfrm>
          <a:prstGeom prst="roundRect">
            <a:avLst/>
          </a:prstGeom>
          <a:solidFill>
            <a:srgbClr val="5E3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5E3784"/>
                </a:solidFill>
                <a:latin typeface="Aptos"/>
              </a:defRPr>
            </a:pPr>
            <a:r>
              <a:t>Stos i obliczanie wyrażeń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5156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0">
                <a:solidFill>
                  <a:srgbClr val="695E75"/>
                </a:solidFill>
                <a:latin typeface="Aptos"/>
              </a:defRPr>
            </a:pPr>
            <a:r>
              <a:t>Mini-projekt ASD1-M1-07  •  rok akademicki 2026/2027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695E75"/>
                </a:solidFill>
                <a:latin typeface="Aptos"/>
              </a:defRPr>
            </a:pPr>
            <a:r>
              <a:t>StosONP  •  Algorytmy i struktury danych 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465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5E3784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920240"/>
            <a:ext cx="7315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000" b="1">
                <a:solidFill>
                  <a:srgbClr val="2A2235"/>
                </a:solidFill>
                <a:latin typeface="Aptos"/>
              </a:defRPr>
            </a:pPr>
            <a:r>
              <a:t>Jak działa stos i do czego przydaje się w obliczeniach?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4023360"/>
            <a:ext cx="7132320" cy="1097280"/>
          </a:xfrm>
          <a:prstGeom prst="roundRect">
            <a:avLst/>
          </a:prstGeom>
          <a:solidFill>
            <a:srgbClr val="EB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4224528"/>
            <a:ext cx="6675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300" b="1">
                <a:solidFill>
                  <a:srgbClr val="5E3784"/>
                </a:solidFill>
                <a:latin typeface="Aptos"/>
              </a:defRPr>
            </a:pPr>
            <a:r>
              <a:t>Marzena Magadia  •  nr indeksu 93782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46304" cy="6858000"/>
          </a:xfrm>
          <a:prstGeom prst="roundRect">
            <a:avLst/>
          </a:prstGeom>
          <a:solidFill>
            <a:srgbClr val="5E3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5E3784"/>
                </a:solidFill>
                <a:latin typeface="Aptos"/>
              </a:defRPr>
            </a:pPr>
            <a:r>
              <a:t>Dlaczego wybrałam ten temat?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73952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695E75"/>
                </a:solidFill>
                <a:latin typeface="Aptos"/>
              </a:defRPr>
            </a:pPr>
            <a:r>
              <a:t>StosONP  •  Algorytmy i struktury danych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5E3784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 b="0">
                <a:solidFill>
                  <a:srgbClr val="2A2235"/>
                </a:solidFill>
                <a:latin typeface="Aptos"/>
              </a:defRPr>
            </a:pPr>
            <a:r>
              <a:t>Chciałam lepiej zrozumieć, jak komputer zapamiętuje kolejność działań i dlaczego nawiasy mają znaczenie.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971800"/>
            <a:ext cx="5212080" cy="2240280"/>
          </a:xfrm>
          <a:prstGeom prst="roundRect">
            <a:avLst/>
          </a:prstGeom>
          <a:solidFill>
            <a:srgbClr val="EB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50976" y="3154680"/>
            <a:ext cx="47731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5E3784"/>
                </a:solidFill>
                <a:latin typeface="Aptos"/>
              </a:defRPr>
            </a:pPr>
            <a:r>
              <a:t>Mój cel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" y="3749039"/>
            <a:ext cx="4773168" cy="1307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2A2235"/>
                </a:solidFill>
                <a:latin typeface="Aptos"/>
              </a:defRPr>
            </a:pPr>
            <a:r>
              <a:t>Przygotować prostą aplikację, w której można zobaczyć każdy krok algorytmu.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2971800"/>
            <a:ext cx="5212080" cy="2240280"/>
          </a:xfrm>
          <a:prstGeom prst="roundRect">
            <a:avLst/>
          </a:prstGeom>
          <a:solidFill>
            <a:srgbClr val="EB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91656" y="3154680"/>
            <a:ext cx="47731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5E3784"/>
                </a:solidFill>
                <a:latin typeface="Aptos"/>
              </a:defRPr>
            </a:pPr>
            <a:r>
              <a:t>Dla kogo?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91656" y="3749039"/>
            <a:ext cx="4773168" cy="1307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2A2235"/>
                </a:solidFill>
                <a:latin typeface="Aptos"/>
              </a:defRPr>
            </a:pPr>
            <a:r>
              <a:t>Dla osób, które dopiero uczą się stosu i odwrotnej notacji polskiej.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46304" cy="6858000"/>
          </a:xfrm>
          <a:prstGeom prst="roundRect">
            <a:avLst/>
          </a:prstGeom>
          <a:solidFill>
            <a:srgbClr val="5E3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5E3784"/>
                </a:solidFill>
                <a:latin typeface="Aptos"/>
              </a:defRPr>
            </a:pPr>
            <a:r>
              <a:t>Czym jest stos?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5156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0">
                <a:solidFill>
                  <a:srgbClr val="695E75"/>
                </a:solidFill>
                <a:latin typeface="Aptos"/>
              </a:defRPr>
            </a:pPr>
            <a:r>
              <a:t>Najważniejsza zasada: LIFO — ostatni dodany element wychodzi jako pierwszy.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695E75"/>
                </a:solidFill>
                <a:latin typeface="Aptos"/>
              </a:defRPr>
            </a:pPr>
            <a:r>
              <a:t>StosONP  •  Algorytmy i struktury danych 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465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5E3784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5120640" cy="3383280"/>
          </a:xfrm>
          <a:prstGeom prst="roundRect">
            <a:avLst/>
          </a:prstGeom>
          <a:solidFill>
            <a:srgbClr val="EB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50976" y="2011680"/>
            <a:ext cx="468172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5E3784"/>
                </a:solidFill>
                <a:latin typeface="Aptos"/>
              </a:defRPr>
            </a:pPr>
            <a:r>
              <a:t>Trzy podstawowe operacje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" y="2606040"/>
            <a:ext cx="4681727" cy="2450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2A2235"/>
                </a:solidFill>
                <a:latin typeface="Aptos"/>
              </a:defRPr>
            </a:pPr>
            <a:r>
              <a:t>push — dodaj element na górę</a:t>
            </a:r>
          </a:p>
          <a:p>
            <a:pPr>
              <a:spcAft>
                <a:spcPts val="1200"/>
              </a:spcAft>
              <a:defRPr sz="1800" b="0">
                <a:solidFill>
                  <a:srgbClr val="2A2235"/>
                </a:solidFill>
                <a:latin typeface="Aptos"/>
              </a:defRPr>
            </a:pPr>
            <a:r>
              <a:t>pop — zdejmij górny element</a:t>
            </a:r>
          </a:p>
          <a:p>
            <a:pPr>
              <a:spcAft>
                <a:spcPts val="1200"/>
              </a:spcAft>
              <a:defRPr sz="1800" b="0">
                <a:solidFill>
                  <a:srgbClr val="2A2235"/>
                </a:solidFill>
                <a:latin typeface="Aptos"/>
              </a:defRPr>
            </a:pPr>
            <a:r>
              <a:t>peek — sprawdź górny element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0" y="1874519"/>
            <a:ext cx="4023360" cy="3383280"/>
          </a:xfrm>
          <a:prstGeom prst="roundRect">
            <a:avLst/>
          </a:prstGeom>
          <a:solidFill>
            <a:srgbClr val="EB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995160" y="2212848"/>
            <a:ext cx="33832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1">
                <a:solidFill>
                  <a:srgbClr val="5E3784"/>
                </a:solidFill>
                <a:latin typeface="Aptos"/>
              </a:defRPr>
            </a:pPr>
            <a:r>
              <a:t>GÓRA STOSU</a:t>
            </a:r>
          </a:p>
          <a:p>
            <a:pPr>
              <a:spcAft>
                <a:spcPts val="1200"/>
              </a:spcAft>
              <a:defRPr sz="2200" b="1">
                <a:solidFill>
                  <a:srgbClr val="5E3784"/>
                </a:solidFill>
                <a:latin typeface="Aptos"/>
              </a:defRPr>
            </a:pPr>
            <a:r>
              <a:t>┌──────────┐</a:t>
            </a:r>
          </a:p>
          <a:p>
            <a:pPr>
              <a:spcAft>
                <a:spcPts val="1200"/>
              </a:spcAft>
              <a:defRPr sz="2200" b="1">
                <a:solidFill>
                  <a:srgbClr val="5E3784"/>
                </a:solidFill>
                <a:latin typeface="Aptos"/>
              </a:defRPr>
            </a:pPr>
            <a:r>
              <a:t>│     4     │</a:t>
            </a:r>
          </a:p>
          <a:p>
            <a:pPr>
              <a:spcAft>
                <a:spcPts val="1200"/>
              </a:spcAft>
              <a:defRPr sz="2200" b="1">
                <a:solidFill>
                  <a:srgbClr val="5E3784"/>
                </a:solidFill>
                <a:latin typeface="Aptos"/>
              </a:defRPr>
            </a:pPr>
            <a:r>
              <a:t>│     3     │</a:t>
            </a:r>
          </a:p>
          <a:p>
            <a:pPr>
              <a:spcAft>
                <a:spcPts val="1200"/>
              </a:spcAft>
              <a:defRPr sz="2200" b="1">
                <a:solidFill>
                  <a:srgbClr val="5E3784"/>
                </a:solidFill>
                <a:latin typeface="Aptos"/>
              </a:defRPr>
            </a:pPr>
            <a:r>
              <a:t>│     2     │</a:t>
            </a:r>
          </a:p>
          <a:p>
            <a:pPr>
              <a:spcAft>
                <a:spcPts val="1200"/>
              </a:spcAft>
              <a:defRPr sz="2200" b="1">
                <a:solidFill>
                  <a:srgbClr val="5E3784"/>
                </a:solidFill>
                <a:latin typeface="Aptos"/>
              </a:defRPr>
            </a:pPr>
            <a:r>
              <a:t>└──────────┘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46304" cy="6858000"/>
          </a:xfrm>
          <a:prstGeom prst="roundRect">
            <a:avLst/>
          </a:prstGeom>
          <a:solidFill>
            <a:srgbClr val="5E3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5E3784"/>
                </a:solidFill>
                <a:latin typeface="Aptos"/>
              </a:defRPr>
            </a:pPr>
            <a:r>
              <a:t>Co potrafi moja aplikacja?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73952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695E75"/>
                </a:solidFill>
                <a:latin typeface="Aptos"/>
              </a:defRPr>
            </a:pPr>
            <a:r>
              <a:t>StosONP  •  Algorytmy i struktury danych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5E3784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5166360" cy="1874519"/>
          </a:xfrm>
          <a:prstGeom prst="roundRect">
            <a:avLst/>
          </a:prstGeom>
          <a:solidFill>
            <a:srgbClr val="EB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50976" y="1691639"/>
            <a:ext cx="47274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5E3784"/>
                </a:solidFill>
                <a:latin typeface="Aptos"/>
              </a:defRPr>
            </a:pPr>
            <a:r>
              <a:t>1. Pokaz stosu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" y="2286000"/>
            <a:ext cx="4727448" cy="941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2A2235"/>
                </a:solidFill>
                <a:latin typeface="Aptos"/>
              </a:defRPr>
            </a:pPr>
            <a:r>
              <a:t>Dodawanie i zdejmowanie elementów.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508760"/>
            <a:ext cx="5166360" cy="1874519"/>
          </a:xfrm>
          <a:prstGeom prst="roundRect">
            <a:avLst/>
          </a:prstGeom>
          <a:solidFill>
            <a:srgbClr val="EB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45936" y="1691639"/>
            <a:ext cx="47274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5E3784"/>
                </a:solidFill>
                <a:latin typeface="Aptos"/>
              </a:defRPr>
            </a:pPr>
            <a:r>
              <a:t>2. Sprawdzanie nawiasów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45936" y="2286000"/>
            <a:ext cx="4727448" cy="941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2A2235"/>
                </a:solidFill>
                <a:latin typeface="Aptos"/>
              </a:defRPr>
            </a:pPr>
            <a:r>
              <a:t>Wykrywanie błędnych par (), [] i {}.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657600"/>
            <a:ext cx="5166360" cy="1874519"/>
          </a:xfrm>
          <a:prstGeom prst="roundRect">
            <a:avLst/>
          </a:prstGeom>
          <a:solidFill>
            <a:srgbClr val="EB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50976" y="3840480"/>
            <a:ext cx="47274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5E3784"/>
                </a:solidFill>
                <a:latin typeface="Aptos"/>
              </a:defRPr>
            </a:pPr>
            <a:r>
              <a:t>3. Zamiana na ONP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" y="4434840"/>
            <a:ext cx="4727448" cy="941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2A2235"/>
                </a:solidFill>
                <a:latin typeface="Aptos"/>
              </a:defRPr>
            </a:pPr>
            <a:r>
              <a:t>Zmiana zwykłego zapisu na zapis postfixowy.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3657600"/>
            <a:ext cx="5166360" cy="1874519"/>
          </a:xfrm>
          <a:prstGeom prst="roundRect">
            <a:avLst/>
          </a:prstGeom>
          <a:solidFill>
            <a:srgbClr val="EB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45936" y="3840480"/>
            <a:ext cx="47274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5E3784"/>
                </a:solidFill>
                <a:latin typeface="Aptos"/>
              </a:defRPr>
            </a:pPr>
            <a:r>
              <a:t>4. Obliczanie wyniku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5936" y="4434840"/>
            <a:ext cx="4727448" cy="941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2A2235"/>
                </a:solidFill>
                <a:latin typeface="Aptos"/>
              </a:defRPr>
            </a:pPr>
            <a:r>
              <a:t>Liczenie wyrażenia za pomocą stosu.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46304" cy="6858000"/>
          </a:xfrm>
          <a:prstGeom prst="roundRect">
            <a:avLst/>
          </a:prstGeom>
          <a:solidFill>
            <a:srgbClr val="5E3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5E3784"/>
                </a:solidFill>
                <a:latin typeface="Aptos"/>
              </a:defRPr>
            </a:pPr>
            <a:r>
              <a:t>Jak sprawdzam nawiasy?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73952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695E75"/>
                </a:solidFill>
                <a:latin typeface="Aptos"/>
              </a:defRPr>
            </a:pPr>
            <a:r>
              <a:t>StosONP  •  Algorytmy i struktury danych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5E3784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6304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300" b="0">
                <a:solidFill>
                  <a:srgbClr val="2A2235"/>
                </a:solidFill>
                <a:latin typeface="Aptos"/>
              </a:defRPr>
            </a:pPr>
            <a:r>
              <a:t>Gdy pojawia się nawias otwierający, zapisuję go na stosie. Przy zamykającym sprawdzam, czy tworzą parę.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880360"/>
            <a:ext cx="5074920" cy="2194560"/>
          </a:xfrm>
          <a:prstGeom prst="roundRect">
            <a:avLst/>
          </a:prstGeom>
          <a:solidFill>
            <a:srgbClr val="EB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96695" y="3063240"/>
            <a:ext cx="46360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5E3784"/>
                </a:solidFill>
                <a:latin typeface="Aptos"/>
              </a:defRPr>
            </a:pPr>
            <a:r>
              <a:t>Poprawny przykład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5" y="3657600"/>
            <a:ext cx="4636008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2A2235"/>
                </a:solidFill>
                <a:latin typeface="Aptos"/>
              </a:defRPr>
            </a:pPr>
            <a:r>
              <a:t>{ [ ( 2 + 3 ) ] }</a:t>
            </a:r>
          </a:p>
          <a:p>
            <a:pPr>
              <a:spcAft>
                <a:spcPts val="1200"/>
              </a:spcAft>
              <a:defRPr sz="1800" b="0">
                <a:solidFill>
                  <a:srgbClr val="2A2235"/>
                </a:solidFill>
                <a:latin typeface="Aptos"/>
              </a:defRPr>
            </a:pPr>
            <a:r>
              <a:t>Wszystkie nawiasy pasują.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2880360"/>
            <a:ext cx="5074920" cy="2194560"/>
          </a:xfrm>
          <a:prstGeom prst="roundRect">
            <a:avLst/>
          </a:prstGeom>
          <a:solidFill>
            <a:srgbClr val="EB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91656" y="3063240"/>
            <a:ext cx="46360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5E3784"/>
                </a:solidFill>
                <a:latin typeface="Aptos"/>
              </a:defRPr>
            </a:pPr>
            <a:r>
              <a:t>Błędny przykład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91656" y="3657600"/>
            <a:ext cx="4636008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2A2235"/>
                </a:solidFill>
                <a:latin typeface="Aptos"/>
              </a:defRPr>
            </a:pPr>
            <a:r>
              <a:t>([)]</a:t>
            </a:r>
          </a:p>
          <a:p>
            <a:pPr>
              <a:spcAft>
                <a:spcPts val="1200"/>
              </a:spcAft>
              <a:defRPr sz="1800" b="0">
                <a:solidFill>
                  <a:srgbClr val="2A2235"/>
                </a:solidFill>
                <a:latin typeface="Aptos"/>
              </a:defRPr>
            </a:pPr>
            <a:r>
              <a:t>Nawiasy zamykają się w złej kolejności.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46304" cy="6858000"/>
          </a:xfrm>
          <a:prstGeom prst="roundRect">
            <a:avLst/>
          </a:prstGeom>
          <a:solidFill>
            <a:srgbClr val="5E3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5E3784"/>
                </a:solidFill>
                <a:latin typeface="Aptos"/>
              </a:defRPr>
            </a:pPr>
            <a:r>
              <a:t>Czym jest ONP?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5156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0">
                <a:solidFill>
                  <a:srgbClr val="695E75"/>
                </a:solidFill>
                <a:latin typeface="Aptos"/>
              </a:defRPr>
            </a:pPr>
            <a:r>
              <a:t>Odwrotna notacja polska — operator zapisujemy po liczbach.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695E75"/>
                </a:solidFill>
                <a:latin typeface="Aptos"/>
              </a:defRPr>
            </a:pPr>
            <a:r>
              <a:t>StosONP  •  Algorytmy i struktury danych 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465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5E3784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691640"/>
            <a:ext cx="10515600" cy="1188720"/>
          </a:xfrm>
          <a:prstGeom prst="roundRect">
            <a:avLst/>
          </a:prstGeom>
          <a:solidFill>
            <a:srgbClr val="EB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3000" y="1956816"/>
            <a:ext cx="9875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700" b="1">
                <a:solidFill>
                  <a:srgbClr val="5E3784"/>
                </a:solidFill>
                <a:latin typeface="Aptos"/>
              </a:defRPr>
            </a:pPr>
            <a:r>
              <a:t>2 + 3 * 4     →     2 3 4 * +     →     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383280"/>
            <a:ext cx="104241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300" b="0">
                <a:solidFill>
                  <a:srgbClr val="2A2235"/>
                </a:solidFill>
                <a:latin typeface="Aptos"/>
              </a:defRPr>
            </a:pPr>
            <a:r>
              <a:t>Najpierw wykonywane jest mnożenie, dopiero potem dodawanie. Dzięki ONP można obliczać wynik bez ponownego analizowania priorytetów operatorów.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46304" cy="6858000"/>
          </a:xfrm>
          <a:prstGeom prst="roundRect">
            <a:avLst/>
          </a:prstGeom>
          <a:solidFill>
            <a:srgbClr val="5E3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5E3784"/>
                </a:solidFill>
                <a:latin typeface="Aptos"/>
              </a:defRPr>
            </a:pPr>
            <a:r>
              <a:t>Nawiasy zmieniają wynik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73952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695E75"/>
                </a:solidFill>
                <a:latin typeface="Aptos"/>
              </a:defRPr>
            </a:pPr>
            <a:r>
              <a:t>StosONP  •  Algorytmy i struktury danych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5E3784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45920"/>
            <a:ext cx="5074920" cy="3063240"/>
          </a:xfrm>
          <a:prstGeom prst="roundRect">
            <a:avLst/>
          </a:prstGeom>
          <a:solidFill>
            <a:srgbClr val="EB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96695" y="1828800"/>
            <a:ext cx="46360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5E3784"/>
                </a:solidFill>
                <a:latin typeface="Aptos"/>
              </a:defRPr>
            </a:pPr>
            <a:r>
              <a:t>Bez nawiasów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5" y="2423160"/>
            <a:ext cx="4636008" cy="2130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2A2235"/>
                </a:solidFill>
                <a:latin typeface="Aptos"/>
              </a:defRPr>
            </a:pPr>
            <a:r>
              <a:t>2 + 3 * 4</a:t>
            </a:r>
          </a:p>
          <a:p>
            <a:pPr>
              <a:spcAft>
                <a:spcPts val="1200"/>
              </a:spcAft>
              <a:defRPr sz="1800" b="0">
                <a:solidFill>
                  <a:srgbClr val="2A2235"/>
                </a:solidFill>
                <a:latin typeface="Aptos"/>
              </a:defRPr>
            </a:pPr>
            <a:r>
              <a:t>ONP: 2 3 4 * +</a:t>
            </a:r>
          </a:p>
          <a:p>
            <a:pPr>
              <a:spcAft>
                <a:spcPts val="1200"/>
              </a:spcAft>
              <a:defRPr sz="1800" b="0">
                <a:solidFill>
                  <a:srgbClr val="2A2235"/>
                </a:solidFill>
                <a:latin typeface="Aptos"/>
              </a:defRPr>
            </a:pPr>
            <a:r>
              <a:t>Wynik: 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645920"/>
            <a:ext cx="5074920" cy="3063240"/>
          </a:xfrm>
          <a:prstGeom prst="roundRect">
            <a:avLst/>
          </a:prstGeom>
          <a:solidFill>
            <a:srgbClr val="EB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91656" y="1828800"/>
            <a:ext cx="46360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5E3784"/>
                </a:solidFill>
                <a:latin typeface="Aptos"/>
              </a:defRPr>
            </a:pPr>
            <a:r>
              <a:t>Z nawiasami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91656" y="2423160"/>
            <a:ext cx="4636008" cy="2130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2A2235"/>
                </a:solidFill>
                <a:latin typeface="Aptos"/>
              </a:defRPr>
            </a:pPr>
            <a:r>
              <a:t>(2 + 3) * 4</a:t>
            </a:r>
          </a:p>
          <a:p>
            <a:pPr>
              <a:spcAft>
                <a:spcPts val="1200"/>
              </a:spcAft>
              <a:defRPr sz="1800" b="0">
                <a:solidFill>
                  <a:srgbClr val="2A2235"/>
                </a:solidFill>
                <a:latin typeface="Aptos"/>
              </a:defRPr>
            </a:pPr>
            <a:r>
              <a:t>ONP: 2 3 + 4 *</a:t>
            </a:r>
          </a:p>
          <a:p>
            <a:pPr>
              <a:spcAft>
                <a:spcPts val="1200"/>
              </a:spcAft>
              <a:defRPr sz="1800" b="0">
                <a:solidFill>
                  <a:srgbClr val="2A2235"/>
                </a:solidFill>
                <a:latin typeface="Aptos"/>
              </a:defRPr>
            </a:pPr>
            <a:r>
              <a:t>Wynik: 20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25780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695E75"/>
                </a:solidFill>
                <a:latin typeface="Aptos"/>
              </a:defRPr>
            </a:pPr>
            <a:r>
              <a:t>To jeden z przykładów, które można porównać w aplikacji.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46304" cy="6858000"/>
          </a:xfrm>
          <a:prstGeom prst="roundRect">
            <a:avLst/>
          </a:prstGeom>
          <a:solidFill>
            <a:srgbClr val="5E3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5E3784"/>
                </a:solidFill>
                <a:latin typeface="Aptos"/>
              </a:defRPr>
            </a:pPr>
            <a:r>
              <a:t>Jak przygotowałam projekt?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73952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695E75"/>
                </a:solidFill>
                <a:latin typeface="Aptos"/>
              </a:defRPr>
            </a:pPr>
            <a:r>
              <a:t>StosONP  •  Algorytmy i struktury danych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5E3784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104241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0">
                <a:solidFill>
                  <a:srgbClr val="2A2235"/>
                </a:solidFill>
                <a:latin typeface="Aptos"/>
              </a:defRPr>
            </a:pPr>
            <a:r>
              <a:t>Najpierw zapoznałam się z działaniem stosu i algorytmem ONP. Następnie przygotowałam aplikację w HTML, CSS i JavaScript, korzystając także z pomocy OpenClaw.</a:t>
            </a:r>
          </a:p>
          <a:p>
            <a:pPr>
              <a:spcAft>
                <a:spcPts val="1200"/>
              </a:spcAft>
              <a:defRPr sz="2200" b="0">
                <a:solidFill>
                  <a:srgbClr val="2A2235"/>
                </a:solidFill>
                <a:latin typeface="Aptos"/>
              </a:defRPr>
            </a:pPr>
            <a:endParaRPr/>
          </a:p>
          <a:p>
            <a:pPr>
              <a:spcAft>
                <a:spcPts val="1200"/>
              </a:spcAft>
              <a:defRPr sz="2200" b="0">
                <a:solidFill>
                  <a:srgbClr val="2A2235"/>
                </a:solidFill>
                <a:latin typeface="Aptos"/>
              </a:defRPr>
            </a:pPr>
            <a:r>
              <a:t>Połączyłam część obliczeniową z interfejsem, aby można było uruchamiać i zatrzymywać pokaz oraz obserwować kolejne kroki.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5166360"/>
            <a:ext cx="10469880" cy="685800"/>
          </a:xfrm>
          <a:prstGeom prst="roundRect">
            <a:avLst/>
          </a:prstGeom>
          <a:solidFill>
            <a:srgbClr val="EB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78992" y="532180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5E3784"/>
                </a:solidFill>
                <a:latin typeface="Aptos"/>
              </a:defRPr>
            </a:pPr>
            <a:r>
              <a:t>HTML — struktura     •     CSS — wygląd     •     JavaScript — działanie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46304" cy="6858000"/>
          </a:xfrm>
          <a:prstGeom prst="roundRect">
            <a:avLst/>
          </a:prstGeom>
          <a:solidFill>
            <a:srgbClr val="5E3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5E3784"/>
                </a:solidFill>
                <a:latin typeface="Aptos"/>
              </a:defRPr>
            </a:pPr>
            <a:r>
              <a:t>Sprawdzanie działania i ograniczenia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73952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695E75"/>
                </a:solidFill>
                <a:latin typeface="Aptos"/>
              </a:defRPr>
            </a:pPr>
            <a:r>
              <a:t>StosONP  •  Algorytmy i struktury danych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5E3784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5166360" cy="3474720"/>
          </a:xfrm>
          <a:prstGeom prst="roundRect">
            <a:avLst/>
          </a:prstGeom>
          <a:solidFill>
            <a:srgbClr val="EB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50976" y="1783080"/>
            <a:ext cx="47274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5E3784"/>
                </a:solidFill>
                <a:latin typeface="Aptos"/>
              </a:defRPr>
            </a:pPr>
            <a:r>
              <a:t>Co sprawdzałam?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" y="2377440"/>
            <a:ext cx="4727448" cy="2542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2A2235"/>
                </a:solidFill>
                <a:latin typeface="Aptos"/>
              </a:defRPr>
            </a:pPr>
            <a:r>
              <a:t>Poprawność obliczeń, nawiasy, dzielenie przez zero i różne przykłady wyrażeń.</a:t>
            </a:r>
          </a:p>
          <a:p>
            <a:pPr>
              <a:spcAft>
                <a:spcPts val="1200"/>
              </a:spcAft>
              <a:defRPr sz="1800" b="0">
                <a:solidFill>
                  <a:srgbClr val="2A2235"/>
                </a:solidFill>
                <a:latin typeface="Aptos"/>
              </a:defRPr>
            </a:pPr>
            <a:r>
              <a:t>W projekcie są też testy automatyczne.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600200"/>
            <a:ext cx="5166360" cy="3474720"/>
          </a:xfrm>
          <a:prstGeom prst="roundRect">
            <a:avLst/>
          </a:prstGeom>
          <a:solidFill>
            <a:srgbClr val="EB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45936" y="1783080"/>
            <a:ext cx="47274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5E3784"/>
                </a:solidFill>
                <a:latin typeface="Aptos"/>
              </a:defRPr>
            </a:pPr>
            <a:r>
              <a:t>O czym warto pamiętać?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45936" y="2377440"/>
            <a:ext cx="4727448" cy="2542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2A2235"/>
                </a:solidFill>
                <a:latin typeface="Aptos"/>
              </a:defRPr>
            </a:pPr>
            <a:r>
              <a:t>Aplikacja obsługuje określony zakres liczb i tokenów. Nie wszystkie rodzaje zapisu matematycznego są dostępne.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48640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0">
                <a:solidFill>
                  <a:srgbClr val="695E75"/>
                </a:solidFill>
                <a:latin typeface="Aptos"/>
              </a:defRPr>
            </a:pPr>
            <a:r>
              <a:t>Testy algorytmów: 36/36; kontrole przeglądarkowe: 19/19 — według materiałów projektu.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46304" cy="6858000"/>
          </a:xfrm>
          <a:prstGeom prst="roundRect">
            <a:avLst/>
          </a:prstGeom>
          <a:solidFill>
            <a:srgbClr val="5E3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5E3784"/>
                </a:solidFill>
                <a:latin typeface="Aptos"/>
              </a:defRPr>
            </a:pPr>
            <a:r>
              <a:t>Pokaz aplikacji i podsumowanie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73952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695E75"/>
                </a:solidFill>
                <a:latin typeface="Aptos"/>
              </a:defRPr>
            </a:pPr>
            <a:r>
              <a:t>StosONP  •  Algorytmy i struktury danych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5E3784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25880"/>
            <a:ext cx="10424160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0">
                <a:solidFill>
                  <a:srgbClr val="2A2235"/>
                </a:solidFill>
                <a:latin typeface="Aptos"/>
              </a:defRPr>
            </a:pPr>
            <a:r>
              <a:rPr dirty="0"/>
              <a:t>Podczas </a:t>
            </a:r>
            <a:r>
              <a:rPr dirty="0" err="1"/>
              <a:t>pokazu</a:t>
            </a:r>
            <a:r>
              <a:rPr dirty="0"/>
              <a:t> </a:t>
            </a:r>
            <a:r>
              <a:rPr dirty="0" err="1"/>
              <a:t>zaprezentuję</a:t>
            </a:r>
            <a:r>
              <a:rPr dirty="0"/>
              <a:t> </a:t>
            </a:r>
            <a:r>
              <a:rPr dirty="0" err="1"/>
              <a:t>dodawanie</a:t>
            </a:r>
            <a:r>
              <a:rPr dirty="0"/>
              <a:t> </a:t>
            </a:r>
            <a:r>
              <a:rPr dirty="0" err="1"/>
              <a:t>elementów</a:t>
            </a:r>
            <a:r>
              <a:rPr dirty="0"/>
              <a:t> </a:t>
            </a:r>
            <a:r>
              <a:rPr dirty="0" err="1"/>
              <a:t>na</a:t>
            </a:r>
            <a:r>
              <a:rPr dirty="0"/>
              <a:t> </a:t>
            </a:r>
            <a:r>
              <a:rPr dirty="0" err="1"/>
              <a:t>stos</a:t>
            </a:r>
            <a:r>
              <a:rPr dirty="0"/>
              <a:t>, </a:t>
            </a:r>
            <a:r>
              <a:rPr dirty="0" err="1"/>
              <a:t>sprawdzanie</a:t>
            </a:r>
            <a:r>
              <a:rPr dirty="0"/>
              <a:t> </a:t>
            </a:r>
            <a:r>
              <a:rPr dirty="0" err="1"/>
              <a:t>nawiasów</a:t>
            </a:r>
            <a:r>
              <a:rPr dirty="0"/>
              <a:t> </a:t>
            </a:r>
            <a:r>
              <a:rPr dirty="0" err="1"/>
              <a:t>i</a:t>
            </a:r>
            <a:r>
              <a:rPr dirty="0"/>
              <a:t> </a:t>
            </a:r>
            <a:r>
              <a:rPr dirty="0" err="1"/>
              <a:t>obliczanie</a:t>
            </a:r>
            <a:r>
              <a:rPr dirty="0"/>
              <a:t> </a:t>
            </a:r>
            <a:r>
              <a:rPr dirty="0" err="1"/>
              <a:t>wyrażeń</a:t>
            </a:r>
            <a:r>
              <a:rPr dirty="0"/>
              <a:t>. </a:t>
            </a:r>
            <a:r>
              <a:rPr dirty="0" err="1"/>
              <a:t>Pokażę</a:t>
            </a:r>
            <a:r>
              <a:rPr dirty="0"/>
              <a:t> </a:t>
            </a:r>
            <a:r>
              <a:rPr dirty="0" err="1"/>
              <a:t>też</a:t>
            </a:r>
            <a:r>
              <a:rPr dirty="0"/>
              <a:t> </a:t>
            </a:r>
            <a:r>
              <a:rPr dirty="0" err="1"/>
              <a:t>różnicę</a:t>
            </a:r>
            <a:r>
              <a:rPr dirty="0"/>
              <a:t> </a:t>
            </a:r>
            <a:r>
              <a:rPr dirty="0" err="1"/>
              <a:t>między</a:t>
            </a:r>
            <a:r>
              <a:rPr dirty="0"/>
              <a:t> 2 + 3 * 4 a (2 + 3) * 4.</a:t>
            </a:r>
          </a:p>
          <a:p>
            <a:pPr>
              <a:spcAft>
                <a:spcPts val="1200"/>
              </a:spcAft>
              <a:defRPr sz="2200" b="0">
                <a:solidFill>
                  <a:srgbClr val="2A2235"/>
                </a:solidFill>
                <a:latin typeface="Aptos"/>
              </a:defRPr>
            </a:pPr>
            <a:endParaRPr dirty="0"/>
          </a:p>
        </p:txBody>
      </p:sp>
      <p:sp>
        <p:nvSpPr>
          <p:cNvPr id="7" name="Rounded Rectangle 6"/>
          <p:cNvSpPr/>
          <p:nvPr/>
        </p:nvSpPr>
        <p:spPr>
          <a:xfrm>
            <a:off x="822960" y="5394960"/>
            <a:ext cx="10424160" cy="640080"/>
          </a:xfrm>
          <a:prstGeom prst="roundRect">
            <a:avLst/>
          </a:prstGeom>
          <a:solidFill>
            <a:srgbClr val="EB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88720" y="5504688"/>
            <a:ext cx="960120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5E3784"/>
                </a:solidFill>
                <a:latin typeface="Aptos"/>
              </a:defRPr>
            </a:pPr>
            <a:r>
              <a:rPr dirty="0" err="1"/>
              <a:t>Dziękuję</a:t>
            </a:r>
            <a:r>
              <a:rPr dirty="0"/>
              <a:t> za </a:t>
            </a:r>
            <a:r>
              <a:rPr dirty="0" err="1"/>
              <a:t>uwagę</a:t>
            </a:r>
            <a:r>
              <a:rPr dirty="0"/>
              <a:t>! 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557</Words>
  <Application>Microsoft Macintosh PowerPoint</Application>
  <PresentationFormat>Widescreen</PresentationFormat>
  <Paragraphs>88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Mažena Magadia</cp:lastModifiedBy>
  <cp:revision>2</cp:revision>
  <dcterms:created xsi:type="dcterms:W3CDTF">2013-01-27T09:14:16Z</dcterms:created>
  <dcterms:modified xsi:type="dcterms:W3CDTF">2026-10-26T13:35:03Z</dcterms:modified>
  <cp:category/>
</cp:coreProperties>
</file>